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SafeVision — 24 GGs mmWave radar asosidagi yo'l xavfsizligi tizimi. President Tech Award 2026, Inkubatsiya dasturi.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2024: 9364 YTH, 2203 halok, 8901 jarohat. Kuniga o'rtacha 6 kishi halok bo'ladi.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Batafsil oylik reja: 1-oy jamoa va reja, 2-oy CAD dizayn, 3-oy materiallar xaridi, 4-oy 10 prototip yig'ish, 5-oy dasturiy ta'minot, 6-oy 10 avtomobilga o'rnatish.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MUHIM: ikkita jamoa a'zosining ismini topshirishdan oldin to'ldiring.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920240"/>
            <a:ext cx="5120640" cy="5120640"/>
          </a:xfrm>
          <a:prstGeom prst="ellipse">
            <a:avLst/>
          </a:prstGeom>
          <a:solidFill>
            <a:srgbClr val="FF8A3D">
              <a:alpha val="6000"/>
            </a:srgbClr>
          </a:solidFill>
          <a:ln w="12700">
            <a:solidFill>
              <a:srgbClr val="FF8A3D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572000"/>
            <a:ext cx="4206240" cy="4206240"/>
          </a:xfrm>
          <a:prstGeom prst="ellipse">
            <a:avLst/>
          </a:prstGeom>
          <a:solidFill>
            <a:srgbClr val="FF8A3D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TECH AWARD 2026  ·  INKUBATSIYA DASTURI  ·  TRANSPORT VA INFRATUZILMA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SafeVision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avtomobilni harakatlanuvchi sensorga aylantiruvchi 24 GGs radar tizimi — xavfni sodir bo'lishidan oldin aniqlaydi.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93008"/>
            <a:ext cx="1719072" cy="384048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 w="12700">
            <a:solidFill>
              <a:srgbClr val="FF8A3D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9300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GGs radar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14600" y="3493008"/>
            <a:ext cx="1719072" cy="384048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 w="12700">
            <a:solidFill>
              <a:srgbClr val="FF8A3D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349300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metr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3493008"/>
            <a:ext cx="1719072" cy="384048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 w="12700">
            <a:solidFill>
              <a:srgbClr val="FF8A3D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49300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soniya oldin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5120640" cy="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Nurbol Xaydaraliyev — asoschi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al-Xorazmiy nomidagi Toshkent axborot texnologiyalari universiteti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874520"/>
            <a:ext cx="2651760" cy="2651760"/>
          </a:xfrm>
          <a:prstGeom prst="ellipse">
            <a:avLst/>
          </a:prstGeom>
          <a:ln w="15240">
            <a:solidFill>
              <a:srgbClr val="FF8A3D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2194560"/>
            <a:ext cx="2011680" cy="2011680"/>
          </a:xfrm>
          <a:prstGeom prst="ellipse">
            <a:avLst/>
          </a:prstGeom>
          <a:ln w="15240">
            <a:solidFill>
              <a:srgbClr val="FF8A3D">
                <a:alpha val="3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0" y="2514600"/>
            <a:ext cx="1371600" cy="1371600"/>
          </a:xfrm>
          <a:prstGeom prst="ellipse">
            <a:avLst/>
          </a:prstGeom>
          <a:ln w="15240">
            <a:solidFill>
              <a:srgbClr val="FF8A3D">
                <a:alpha val="29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5500" y="2811780"/>
            <a:ext cx="777240" cy="777240"/>
          </a:xfrm>
          <a:prstGeom prst="ellipse">
            <a:avLst/>
          </a:prstGeom>
          <a:ln w="15240">
            <a:solidFill>
              <a:srgbClr val="FF8A3D">
                <a:alpha val="21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57816" y="3054096"/>
            <a:ext cx="292608" cy="292608"/>
          </a:xfrm>
          <a:prstGeom prst="ellipse">
            <a:avLst/>
          </a:prstGeom>
          <a:solidFill>
            <a:srgbClr val="FF8A3D"/>
          </a:solidFill>
          <a:ln/>
          <a:effectLst>
            <a:outerShdw sx="100000" sy="100000" kx="0" ky="0" algn="bl" rotWithShape="0" blurRad="177800" dist="50800" dir="5400000">
              <a:srgbClr val="FF8A3D">
                <a:alpha val="6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018520" y="23317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098280" y="41605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kuni oldini olsa bo'ladigan fojialar sodir bo'lmoqda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3852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9 364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2024-yilda ro'yxatga olingan yo'l-transport hodisasi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65576" y="17830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11927"/>
          </a:solidFill>
          <a:ln w="12700">
            <a:solidFill>
              <a:srgbClr val="111927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39896" y="193852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2 203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39896" y="25420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hodisalarda halok bo'lgan inson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072" y="17830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93852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8 901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65392" y="25420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jarohat olgan fuqaro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16568" y="17830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90888" y="193852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 mln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390888" y="25420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mamlakatdagi transport vositasi (2025)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649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YHXX rasmiy statistikasi, 2024–2025-yillar.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344728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069080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5902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Haydovchi kech ko'radi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95604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Xavfli vaziyat ko'z bilan sezilganda tormozlash uchun vaqt qolmaydi — reaksiya vaqti sekundlar bilan o'lchanadi.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98264" y="3794760"/>
            <a:ext cx="344728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4069080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4" name="Text 22"/>
          <p:cNvSpPr/>
          <p:nvPr/>
        </p:nvSpPr>
        <p:spPr>
          <a:xfrm>
            <a:off x="4718304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45902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Yo'lda ko'zi yo'q nuqtalar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18304" y="495604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Tuman, chang, tunda va burilishlarda ko'rish masofasi keskin qisqaradi; kameralar bunday sharoitda ishonchsiz.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56448" y="3794760"/>
            <a:ext cx="344728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76488" y="4069080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9" name="Text 27"/>
          <p:cNvSpPr/>
          <p:nvPr/>
        </p:nvSpPr>
        <p:spPr>
          <a:xfrm>
            <a:off x="847648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76488" y="45902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 ma'lumotsiz boshqariladi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76488" y="495604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Tirbandlik va piyodalar xavfsizligi bo'yicha uzluksiz, real vaqtdagi ma'lumot yig'ilmaydi.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920240"/>
            <a:ext cx="5120640" cy="5120640"/>
          </a:xfrm>
          <a:prstGeom prst="ellipse">
            <a:avLst/>
          </a:prstGeom>
          <a:solidFill>
            <a:srgbClr val="FF8A3D">
              <a:alpha val="6000"/>
            </a:srgbClr>
          </a:solidFill>
          <a:ln w="12700">
            <a:solidFill>
              <a:srgbClr val="FF8A3D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572000"/>
            <a:ext cx="4206240" cy="4206240"/>
          </a:xfrm>
          <a:prstGeom prst="ellipse">
            <a:avLst/>
          </a:prstGeom>
          <a:solidFill>
            <a:srgbClr val="FF8A3D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Xavfni ko'rishdan oldin bilib turadigan radar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— avtomobilga o'rnatiladigan 24 GGs mmWave radar moduli. U yo'ldagi holatni uzluksiz o'lchaydi, xavfli vaziyatni oldindan aniqlaydi va haydovchini ogohlantiradi.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447288" cy="2514600"/>
          </a:xfrm>
          <a:prstGeom prst="roundRect">
            <a:avLst>
              <a:gd name="adj" fmla="val 4364"/>
            </a:avLst>
          </a:prstGeom>
          <a:solidFill>
            <a:srgbClr val="1A2939"/>
          </a:solidFill>
          <a:ln w="12700">
            <a:solidFill>
              <a:srgbClr val="FF8A3D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816352"/>
            <a:ext cx="457200" cy="457200"/>
          </a:xfrm>
          <a:prstGeom prst="ellipse">
            <a:avLst/>
          </a:prstGeom>
          <a:solidFill>
            <a:srgbClr val="FF8A3D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3410712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Erta ogohlantirish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377647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 15 soniya oldin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4114800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50 metrgacha masofadagi to'siq va xavfli yaqinlashuvni aniqlaydi, haydovchi tormozlashga ulguradi.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8264" y="2514600"/>
            <a:ext cx="3447288" cy="2514600"/>
          </a:xfrm>
          <a:prstGeom prst="roundRect">
            <a:avLst>
              <a:gd name="adj" fmla="val 4364"/>
            </a:avLst>
          </a:prstGeom>
          <a:solidFill>
            <a:srgbClr val="1A2939"/>
          </a:solidFill>
          <a:ln w="12700">
            <a:solidFill>
              <a:srgbClr val="FF8A3D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45736" y="2816352"/>
            <a:ext cx="457200" cy="457200"/>
          </a:xfrm>
          <a:prstGeom prst="ellipse">
            <a:avLst/>
          </a:prstGeom>
          <a:solidFill>
            <a:srgbClr val="FF8A3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45736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45736" y="3410712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Aqlli shahar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45736" y="377647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mashina — sensor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45736" y="4114800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Yig'ilgan ma'lumot shahar transport tizimiga uzatiladi: tirbandlik, xavfli chorrahalar, piyoda oqimi.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6448" y="2514600"/>
            <a:ext cx="3447288" cy="2514600"/>
          </a:xfrm>
          <a:prstGeom prst="roundRect">
            <a:avLst>
              <a:gd name="adj" fmla="val 4364"/>
            </a:avLst>
          </a:prstGeom>
          <a:solidFill>
            <a:srgbClr val="1A2939"/>
          </a:solidFill>
          <a:ln w="12700">
            <a:solidFill>
              <a:srgbClr val="FF8A3D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2816352"/>
            <a:ext cx="457200" cy="457200"/>
          </a:xfrm>
          <a:prstGeom prst="ellipse">
            <a:avLst/>
          </a:prstGeom>
          <a:solidFill>
            <a:srgbClr val="FF8A3D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0" y="3410712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Ob-havodan mustaqil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503920" y="377647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qila olmaydigan ish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4114800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mmWave radar tuman, chang, yomg'ir va qorong'ilikda ham barqaror ishlaydi — bu kameraning asosiy zaifligi.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285232"/>
            <a:ext cx="10908792" cy="694944"/>
          </a:xfrm>
          <a:prstGeom prst="roundRect">
            <a:avLst>
              <a:gd name="adj" fmla="val 13158"/>
            </a:avLst>
          </a:prstGeom>
          <a:solidFill>
            <a:srgbClr val="FF8A3D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285232"/>
            <a:ext cx="10149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 sinovlarida xavfli vaziyatni aniqlash aniqligi — 92%.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To'rt bosqichda: to'lqindan ogohlantirishgacha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40280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761488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skanerlaydi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32688" y="3401568"/>
            <a:ext cx="2020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GGs antenna oldindagi maydonni uzluksiz skanerlaydi va qaytgan signalni o'lchaydi.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2999232"/>
            <a:ext cx="164592" cy="201168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10" name="Shape 8"/>
          <p:cNvSpPr/>
          <p:nvPr/>
        </p:nvSpPr>
        <p:spPr>
          <a:xfrm>
            <a:off x="3465576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58184" y="2240280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2" name="Text 10"/>
          <p:cNvSpPr/>
          <p:nvPr/>
        </p:nvSpPr>
        <p:spPr>
          <a:xfrm>
            <a:off x="3758184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58184" y="2761488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 tahlil qiladi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58184" y="3401568"/>
            <a:ext cx="2020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Mikrokontroller masofa, tezlik va yaqinlashish sur'atini hisoblab, xavf darajasini baholaydi.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9048" y="2999232"/>
            <a:ext cx="164592" cy="201168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240280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761488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Haydovchi ogohlantiriladi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83680" y="3401568"/>
            <a:ext cx="2020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 aniqlanganda tovushli va vizual signal beriladi — o'rtacha 15 soniya oldin.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24544" y="2999232"/>
            <a:ext cx="164592" cy="201168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22" name="Shape 20"/>
          <p:cNvSpPr/>
          <p:nvPr/>
        </p:nvSpPr>
        <p:spPr>
          <a:xfrm>
            <a:off x="9116568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09176" y="2240280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4" name="Text 22"/>
          <p:cNvSpPr/>
          <p:nvPr/>
        </p:nvSpPr>
        <p:spPr>
          <a:xfrm>
            <a:off x="940917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09176" y="2761488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markazga boradi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09176" y="3401568"/>
            <a:ext cx="2020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modul orqali anonim ma'lumot shahar boshqaruv paneliga uzatiladi.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2688" y="468172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GGs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32688" y="519379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mmWave chastota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65576" y="45262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58184" y="468172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m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758184" y="519379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aniqlash masofasi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91072" y="45262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83680" y="468172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583680" y="519379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ogohlantirish vaqti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16568" y="45262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11927"/>
          </a:solidFill>
          <a:ln w="12700">
            <a:solidFill>
              <a:srgbClr val="111927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409176" y="468172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409176" y="519379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aniqlash aniqligi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 uchun va nima uchun to'laydi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7288" cy="3017520"/>
          </a:xfrm>
          <a:prstGeom prst="roundRect">
            <a:avLst>
              <a:gd name="adj" fmla="val 3636"/>
            </a:avLst>
          </a:prstGeom>
          <a:solidFill>
            <a:srgbClr val="111927"/>
          </a:solidFill>
          <a:ln w="12700">
            <a:solidFill>
              <a:srgbClr val="111927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Shahar hokimliklari va vazirliklar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— asosiy mijoz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807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infratuzilmasi bo'yicha real vaqtdagi ma'lumot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Xavfli chorrahalarni raqamlar bilan aniqlash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vazirligi bilan birgalikda joriy etish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8264" y="1874520"/>
            <a:ext cx="344728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8304" y="210312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kompaniyalari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18304" y="27889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barqaror daromad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18304" y="3154680"/>
            <a:ext cx="2807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 va yo'lovchi tashish parki uchun to'plamli o'rnatish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Sug'urta xarajatlari va avariyalar kamayadi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Haydovchi xatti-harakati bo'yicha hisobot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1874520"/>
            <a:ext cx="344728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76488" y="210312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Xususiy haydovchilar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76488" y="27889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keyingi bosqich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76488" y="3154680"/>
            <a:ext cx="2807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Qurilmani sotib olish va o'rnatish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 orqali ogohlantirish tarixi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 mln transport vositasidan iborat keng bozor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138928"/>
            <a:ext cx="10908792" cy="841248"/>
          </a:xfrm>
          <a:prstGeom prst="roundRect">
            <a:avLst>
              <a:gd name="adj" fmla="val 10870"/>
            </a:avLst>
          </a:prstGeom>
          <a:solidFill>
            <a:srgbClr val="FFF1E7"/>
          </a:solidFill>
          <a:ln w="12700">
            <a:solidFill>
              <a:srgbClr val="FBD9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38928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nuqtasi — davlat: pilot loyihalar hokimliklar va Transport vazirligi bilan boshlanadi, so'ngra transport kompaniyalari va xususiy bozorga chiqiladi.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INNOVATSIYA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 uchun bu yechim mavjudlaridan farq qiladi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606040"/>
                <a:gridCol w="272491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SafeVision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Yo'l kameralari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Zavod ADAS tizimlari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Ma'lumot manbayi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9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 bir avtomobil — mobil sensor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Statik nuqtalar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Faqat shu avtomobil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Tuman, chang, tunda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9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Barqaror ishlaydi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Sifat keskin pasayadi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Kamera qismi zaiflashadi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Haydovchini ogohlantirish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9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soniya oldin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Yo'q — faqat qayd etadi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Bor, lekin qimmat avtomobillarda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Shahar tizimiga ulanish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9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vaqtda uzatadi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Cheklangan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Eski avtomobilga o'rnatish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9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Mumkin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Tegishli emas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Mumkin emas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qurilma tannarxi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9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~1,63 mln so'm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Yuqori (infratuzilma)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Avtomobil narxiga kiritilgan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874520"/>
            <a:ext cx="10908792" cy="475488"/>
          </a:xfrm>
          <a:prstGeom prst="rect">
            <a:avLst/>
          </a:prstGeom>
          <a:solidFill>
            <a:srgbClr val="111927"/>
          </a:solidFill>
          <a:ln/>
        </p:spPr>
      </p:sp>
      <p:sp>
        <p:nvSpPr>
          <p:cNvPr id="6" name="Shape 3"/>
          <p:cNvSpPr/>
          <p:nvPr/>
        </p:nvSpPr>
        <p:spPr>
          <a:xfrm>
            <a:off x="3383280" y="1874520"/>
            <a:ext cx="2834640" cy="47548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874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511296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45936" y="18745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kameralari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951976" y="18745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Zavod ADAS tizimlari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05840" y="53492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innovatsiya — statik infratuzilma o'rniga harakatlanuvchi sensorlar tarmog'i: mashinalar soni ortgan sari tizim qamrovi va ma'lumot sifati o'z-o'zidan yaxshilanadi.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920240"/>
            <a:ext cx="5120640" cy="5120640"/>
          </a:xfrm>
          <a:prstGeom prst="ellipse">
            <a:avLst/>
          </a:prstGeom>
          <a:solidFill>
            <a:srgbClr val="FF8A3D">
              <a:alpha val="6000"/>
            </a:srgbClr>
          </a:solidFill>
          <a:ln w="12700">
            <a:solidFill>
              <a:srgbClr val="FF8A3D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572000"/>
            <a:ext cx="4206240" cy="4206240"/>
          </a:xfrm>
          <a:prstGeom prst="ellipse">
            <a:avLst/>
          </a:prstGeom>
          <a:solidFill>
            <a:srgbClr val="FF8A3D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Nimaga erishmoqchimiz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47288" cy="2514600"/>
          </a:xfrm>
          <a:prstGeom prst="roundRect">
            <a:avLst>
              <a:gd name="adj" fmla="val 4364"/>
            </a:avLst>
          </a:prstGeom>
          <a:solidFill>
            <a:srgbClr val="1A2939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46888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xavfsizligi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87552" y="2834640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87552" y="36118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o'rnatilgan avtomobillarda avariyaga olib keluvchi vaziyatlarni kamaytirish.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8264" y="2194560"/>
            <a:ext cx="3447288" cy="2514600"/>
          </a:xfrm>
          <a:prstGeom prst="roundRect">
            <a:avLst>
              <a:gd name="adj" fmla="val 4364"/>
            </a:avLst>
          </a:prstGeom>
          <a:solidFill>
            <a:srgbClr val="1A2939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246888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 infratuzilmasi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45736" y="2834640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vaqt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45736" y="36118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Tirbandlik va piyodalar xavfsizligini uzluksiz ma'lumot asosida boshqarish.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2194560"/>
            <a:ext cx="3447288" cy="2514600"/>
          </a:xfrm>
          <a:prstGeom prst="roundRect">
            <a:avLst>
              <a:gd name="adj" fmla="val 4364"/>
            </a:avLst>
          </a:prstGeom>
          <a:solidFill>
            <a:srgbClr val="1A2939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46888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bilan hamkorlik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03920" y="2834640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vazirlik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503920" y="36118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vazirligi va tegishli idoralar bilan pilot loyihalarni rasmiylashtirish.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Kelgusi yo'nalish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Xuddi shu mmWave sensor texnologiyasi tibbiyotda ham qo'llanilishi mumkin — masalan, uyqu apnesi kabi nafas buzilishlarini arzon aniqlash. Bu yo'nalish asosiy mahsulot bozorda mustahkamlangandan keyin ochiladi.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XARITASI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Inkubatsiya davri uchun 12 oylik reja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111927"/>
          </a:solidFill>
          <a:ln w="12700">
            <a:solidFill>
              <a:srgbClr val="111927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1284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128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oy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272491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dizayn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32688" y="3154680"/>
            <a:ext cx="2020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to'ldiriladi, radar qurilmasining CAD modeli va texnik chizmalari tayyorlanadi, komponentlar xarid qilinadi.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65576" y="196596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58184" y="221284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/>
        </p:spPr>
      </p:sp>
      <p:sp>
        <p:nvSpPr>
          <p:cNvPr id="11" name="Text 9"/>
          <p:cNvSpPr/>
          <p:nvPr/>
        </p:nvSpPr>
        <p:spPr>
          <a:xfrm>
            <a:off x="3758184" y="22128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oy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58184" y="272491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prototip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58184" y="3154680"/>
            <a:ext cx="2020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qurilma yig'iladi, korpuslar 3D bosma qilinadi, dasturiy ta'minot yozilib, 10 ta avtomobilga o'rnatiladi.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91072" y="196596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21284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2128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oy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0" y="272491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 sinovlari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83680" y="3154680"/>
            <a:ext cx="2020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yo'l sharoitida ma'lumot to'planadi, aniqlash algoritmi sozlanadi, xato signal darajasi kamaytiriladi.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16568" y="196596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09176" y="221284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/>
        </p:spPr>
      </p:sp>
      <p:sp>
        <p:nvSpPr>
          <p:cNvPr id="21" name="Text 19"/>
          <p:cNvSpPr/>
          <p:nvPr/>
        </p:nvSpPr>
        <p:spPr>
          <a:xfrm>
            <a:off x="9409176" y="22128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oy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409176" y="272491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va seriya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09176" y="3154680"/>
            <a:ext cx="2020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Hokimlik bilan pilot loyiha, sertifikatlash jarayoni va 1000 donalik seriyaga tayyorgarlik.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846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oy oxiriga natija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166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965960" y="5294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sinovdan o'tgan qurilma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43400" y="5166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669280" y="5294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hokimlik bilan pilot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0" y="5166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372600" y="5294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seriyaga tayyor buyurtma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BYUDJET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donalik seriya uchun komponentlar xarajati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7223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960120"/>
                <a:gridCol w="1508760"/>
                <a:gridCol w="15544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Miqdor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Birlik narxi (so'm)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(so'm)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Antenna (24 GGs, 10×10 sm)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Mikrokontroller (Arduino Nano)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 modul (SIM800L)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200 000 000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(bosma plata)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Korpus (ABS, 3D bosma, 1 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134 100 000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Kabel va ulagichlar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B55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9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9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1 634 100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9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1 634 100 000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874520"/>
            <a:ext cx="7223760" cy="429768"/>
          </a:xfrm>
          <a:prstGeom prst="rect">
            <a:avLst/>
          </a:prstGeom>
          <a:solidFill>
            <a:srgbClr val="11192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874520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70432" y="187452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31920" y="187452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Miqdor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19472" y="1874520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 narxi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46520" y="187452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(so'm)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83880" y="1874520"/>
            <a:ext cx="336499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58200" y="20391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1 634 100 so'm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458200" y="24780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qurilmaning komponent tannarxi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83880" y="3291840"/>
            <a:ext cx="3364992" cy="1234440"/>
          </a:xfrm>
          <a:prstGeom prst="roundRect">
            <a:avLst>
              <a:gd name="adj" fmla="val 8889"/>
            </a:avLst>
          </a:prstGeom>
          <a:solidFill>
            <a:srgbClr val="111927"/>
          </a:solidFill>
          <a:ln w="12700">
            <a:solidFill>
              <a:srgbClr val="111927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58200" y="3456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458200" y="38953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Tannarxning antennaga to'g'ri keladigan ulushi — asosiy optimallashtirish nuqtasi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83880" y="4709160"/>
            <a:ext cx="336499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58200" y="48737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1,63 mlrd so'm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458200" y="53126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donalik seriya uchun umumiy komponent byudjeti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" y="58064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Miqdor oshgani sari komponent narxlari pasayadi; seriyali ishlab chiqarishda tannarxni sezilarli kamaytirish rejalashtirilgan.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Qurilmani yo'lga olib chiqadigan jamoa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Tanlov shartiga ko'ra jamoa kamida uch kishidan iborat bo'lishi kerak. Apparat, dasturiy ta'minot va davlat bilan ishlash — uchta asosiy yo'nalish.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47288" cy="2743200"/>
          </a:xfrm>
          <a:prstGeom prst="roundRect">
            <a:avLst>
              <a:gd name="adj" fmla="val 4000"/>
            </a:avLst>
          </a:prstGeom>
          <a:solidFill>
            <a:srgbClr val="111927"/>
          </a:solidFill>
          <a:ln w="12700">
            <a:solidFill>
              <a:srgbClr val="111927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14600"/>
            <a:ext cx="566928" cy="566928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Nurbol Xaydaraliyev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76732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 · Texnik yetakchi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406908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TATU talabasi. SafeVision g'oyasi muallifi, radar modulining texnik konsepsiyasi va prototip ishlanmasi ustida ishlamoqda.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98264" y="2240280"/>
            <a:ext cx="344728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2514600"/>
            <a:ext cx="566928" cy="566928"/>
          </a:xfrm>
          <a:prstGeom prst="ellipse">
            <a:avLst/>
          </a:prstGeom>
          <a:solidFill>
            <a:srgbClr val="FFF1E7"/>
          </a:solidFill>
          <a:ln/>
        </p:spPr>
      </p:sp>
      <p:sp>
        <p:nvSpPr>
          <p:cNvPr id="13" name="Text 11"/>
          <p:cNvSpPr/>
          <p:nvPr/>
        </p:nvSpPr>
        <p:spPr>
          <a:xfrm>
            <a:off x="4718304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18304" y="324612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a'zosi — ismni kiriting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18304" y="376732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Elektronika va apparat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18304" y="406908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dizayni, antenna sozlash, korpus va qurilmani yig'ish uchun mas'ul.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6448" y="2240280"/>
            <a:ext cx="344728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76488" y="2514600"/>
            <a:ext cx="566928" cy="566928"/>
          </a:xfrm>
          <a:prstGeom prst="ellipse">
            <a:avLst/>
          </a:prstGeom>
          <a:solidFill>
            <a:srgbClr val="FFF1E7"/>
          </a:solidFill>
          <a:ln/>
        </p:spPr>
      </p:sp>
      <p:sp>
        <p:nvSpPr>
          <p:cNvPr id="19" name="Text 17"/>
          <p:cNvSpPr/>
          <p:nvPr/>
        </p:nvSpPr>
        <p:spPr>
          <a:xfrm>
            <a:off x="8476488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76488" y="324612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a'zosi — ismni kiriting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76488" y="376732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Dasturiy ta'minot va ma'lumot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76488" y="406908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Mikrokontroller dasturi, GSM orqali uzatish va shahar paneli uchun mas'ul.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Qo'shimcha: radiotexnika bo'yicha ilmiy maslahatchi va yo'l xavfsizligi sohasidan mentor jalb qilinadi. Inkubatsiya dasturidan kutilayotgan asosiy qiymat ham aynan shu.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Inkubatsiya dasturidan nimani kutamiz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76272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697480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Apparat laboratoriyasi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32688" y="3090672"/>
            <a:ext cx="2020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modulini sinash uchun asbob-uskuna va 3D bosma imkoniyati.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65576" y="19202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58184" y="2176272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3758184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58184" y="2697480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Sertifikatlash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58184" y="3090672"/>
            <a:ext cx="2020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Qurilmani avtomobilga o'rnatish uchun zarur ruxsat va standartlar bo'yicha yordam.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91072" y="19202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176272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bilan aloqa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83680" y="3090672"/>
            <a:ext cx="2020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Hokimliklar va Transport vazirligi bilan pilot loyihani rasmiylashtirish.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16568" y="19202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09176" y="2176272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1" name="Text 19"/>
          <p:cNvSpPr/>
          <p:nvPr/>
        </p:nvSpPr>
        <p:spPr>
          <a:xfrm>
            <a:off x="940917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09176" y="2697480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Moliyalashtirish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09176" y="3090672"/>
            <a:ext cx="2020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Jamoani to'ldirish va birinchi 10 ta prototipni yig'ish uchun grant.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Mablag' qanday taqsimlanadi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645152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11927"/>
          </a:solidFill>
          <a:ln w="12700">
            <a:solidFill>
              <a:srgbClr val="111927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480060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32688" y="5285232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Komponentlar va prototiplar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65576" y="4645152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58184" y="480060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758184" y="5285232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ishlab chiqish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4645152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480060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583680" y="5285232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Sinov, sertifikatlash, pilot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16568" y="4645152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11927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409176" y="480060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9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409176" y="5285232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xarajatlar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SafeVision  ·  President Tech Award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345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920240"/>
            <a:ext cx="5120640" cy="5120640"/>
          </a:xfrm>
          <a:prstGeom prst="ellipse">
            <a:avLst/>
          </a:prstGeom>
          <a:solidFill>
            <a:srgbClr val="FF8A3D">
              <a:alpha val="6000"/>
            </a:srgbClr>
          </a:solidFill>
          <a:ln w="12700">
            <a:solidFill>
              <a:srgbClr val="FF8A3D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572000"/>
            <a:ext cx="4206240" cy="4206240"/>
          </a:xfrm>
          <a:prstGeom prst="ellipse">
            <a:avLst/>
          </a:prstGeom>
          <a:solidFill>
            <a:srgbClr val="FF8A3D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SafeVision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Xavfni ko'rgandan keyin emas — 15 soniya oldin bilish.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 tanlangan, tannarx hisoblangan, reja aniq. Endi kerak bo'lgani — jamoani to'ldirish, prototipni yo'lga chiqarish va davlat bilan pilot loyihani boshlash.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93592" cy="3017520"/>
          </a:xfrm>
          <a:prstGeom prst="roundRect">
            <a:avLst>
              <a:gd name="adj" fmla="val 3636"/>
            </a:avLst>
          </a:prstGeom>
          <a:solidFill>
            <a:srgbClr val="1A2939"/>
          </a:solidFill>
          <a:ln w="12700">
            <a:solidFill>
              <a:srgbClr val="FF8A3D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BOG'LANISH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75320" y="26060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75320" y="28437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t.me/Nurbol_xan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75320" y="33192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75320" y="3557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+998 93 107 42 21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40325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75320" y="42702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Nurbol-Xan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5321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Tech Award 2026  ·  Inkubatsiya dasturi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SafeVision — President Tech Award 2026</dc:title>
  <dc:subject>PptxGenJS Presentation</dc:subject>
  <dc:creator>Nurbol Xaydaraliyev</dc:creator>
  <cp:lastModifiedBy>Nurbol Xaydaraliyev</cp:lastModifiedBy>
  <cp:revision>1</cp:revision>
  <dcterms:created xsi:type="dcterms:W3CDTF">2026-08-10T13:02:43Z</dcterms:created>
  <dcterms:modified xsi:type="dcterms:W3CDTF">2026-08-10T13:02:43Z</dcterms:modified>
</cp:coreProperties>
</file>